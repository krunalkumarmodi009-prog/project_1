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5"/>
  </p:notesMasterIdLst>
  <p:sldIdLst>
    <p:sldId id="257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64" r:id="rId12"/>
    <p:sldId id="265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DATASCIENCE%20PROJECT\DatasetB\Final%20Project%20Fi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DATASCIENCE%20PROJECT\DatasetB\Final%20Project%20Fi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DATASCIENCE%20PROJECT\DatasetB\Final%20Project%20Fil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DATASCIENCE%20PROJECT\DatasetB\Final%20Project%20Fil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Final%20Project%20File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fs_2\Downloads\Final%20Project%20File%20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Project File.xlsx]Hours rental trend!PivotTable4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100" normalizeH="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Hourly rental</a:t>
            </a:r>
            <a:r>
              <a:rPr lang="en-US" sz="1400" baseline="0">
                <a:latin typeface="Arial" panose="020B0604020202020204" pitchFamily="34" charset="0"/>
                <a:cs typeface="Arial" panose="020B0604020202020204" pitchFamily="34" charset="0"/>
              </a:rPr>
              <a:t> user trend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100" normalizeH="0" baseline="0">
              <a:solidFill>
                <a:schemeClr val="lt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34925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1554143663448783E-2"/>
          <c:y val="0.14349350502614269"/>
          <c:w val="0.90368338638564005"/>
          <c:h val="0.77666886413059755"/>
        </c:manualLayout>
      </c:layout>
      <c:lineChart>
        <c:grouping val="standard"/>
        <c:varyColors val="0"/>
        <c:ser>
          <c:idx val="0"/>
          <c:order val="0"/>
          <c:tx>
            <c:strRef>
              <c:f>'Hours rental trend'!$B$3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5"/>
            <c:spPr>
              <a:solidFill>
                <a:schemeClr val="accent1"/>
              </a:solidFill>
              <a:ln w="22225">
                <a:solidFill>
                  <a:schemeClr val="lt1"/>
                </a:solidFill>
                <a:round/>
              </a:ln>
              <a:effectLst/>
            </c:spPr>
          </c:marker>
          <c:cat>
            <c:strRef>
              <c:f>'Hours rental trend'!$A$4:$A$28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'Hours rental trend'!$B$4:$B$28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3D-4243-B39E-6A007B8F82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577979792"/>
        <c:axId val="577974512"/>
      </c:lineChart>
      <c:catAx>
        <c:axId val="57797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7974512"/>
        <c:crosses val="autoZero"/>
        <c:auto val="1"/>
        <c:lblAlgn val="ctr"/>
        <c:lblOffset val="100"/>
        <c:noMultiLvlLbl val="0"/>
      </c:catAx>
      <c:valAx>
        <c:axId val="577974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77979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[Final Project File.xlsx]Weather Impact on Rental!PivotTable2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Weather impact on Rental user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'Weather Impact on Rental'!$B$3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'Weather Impact on Rental'!$A$4:$A$8</c:f>
              <c:strCache>
                <c:ptCount val="4"/>
                <c:pt idx="0">
                  <c:v>Mist / Cloudy</c:v>
                </c:pt>
                <c:pt idx="1">
                  <c:v>Light Snow/Rain</c:v>
                </c:pt>
                <c:pt idx="2">
                  <c:v>Heavy Rain/Snow</c:v>
                </c:pt>
                <c:pt idx="3">
                  <c:v>Clear</c:v>
                </c:pt>
              </c:strCache>
            </c:strRef>
          </c:cat>
          <c:val>
            <c:numRef>
              <c:f>'Weather Impact on Rental'!$B$4:$B$8</c:f>
              <c:numCache>
                <c:formatCode>General</c:formatCode>
                <c:ptCount val="4"/>
                <c:pt idx="0">
                  <c:v>18106</c:v>
                </c:pt>
                <c:pt idx="1">
                  <c:v>2789</c:v>
                </c:pt>
                <c:pt idx="2">
                  <c:v>36</c:v>
                </c:pt>
                <c:pt idx="3">
                  <c:v>37373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B5-4186-8102-2B4D7797E7F9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77951952"/>
        <c:axId val="577952912"/>
      </c:lineChart>
      <c:catAx>
        <c:axId val="577951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77952912"/>
        <c:crosses val="autoZero"/>
        <c:auto val="1"/>
        <c:lblAlgn val="ctr"/>
        <c:lblOffset val="100"/>
        <c:noMultiLvlLbl val="0"/>
      </c:catAx>
      <c:valAx>
        <c:axId val="577952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77951952"/>
        <c:crosses val="autoZero"/>
        <c:crossBetween val="between"/>
      </c:valAx>
      <c:spPr>
        <a:solidFill>
          <a:schemeClr val="bg2">
            <a:lumMod val="75000"/>
          </a:schemeClr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75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Project File.xlsx]Temp impact on rental!PivotTable1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Temp. Impact on rental User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'Temp impact on rental'!$B$3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'Temp impact on rental'!$A$4:$A$9</c:f>
              <c:strCache>
                <c:ptCount val="5"/>
                <c:pt idx="0">
                  <c:v>Cool</c:v>
                </c:pt>
                <c:pt idx="1">
                  <c:v>Extremely Hot</c:v>
                </c:pt>
                <c:pt idx="2">
                  <c:v>Icy</c:v>
                </c:pt>
                <c:pt idx="3">
                  <c:v>Moderate</c:v>
                </c:pt>
                <c:pt idx="4">
                  <c:v>Sweltering</c:v>
                </c:pt>
              </c:strCache>
            </c:strRef>
          </c:cat>
          <c:val>
            <c:numRef>
              <c:f>'Temp impact on rental'!$B$4:$B$9</c:f>
              <c:numCache>
                <c:formatCode>General</c:formatCode>
                <c:ptCount val="5"/>
                <c:pt idx="0">
                  <c:v>25413</c:v>
                </c:pt>
                <c:pt idx="1">
                  <c:v>978</c:v>
                </c:pt>
                <c:pt idx="2">
                  <c:v>2779</c:v>
                </c:pt>
                <c:pt idx="3">
                  <c:v>21843</c:v>
                </c:pt>
                <c:pt idx="4">
                  <c:v>7291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2-4E2F-85F0-B7E5CCAC3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96868687"/>
        <c:axId val="96817807"/>
      </c:barChart>
      <c:catAx>
        <c:axId val="96868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17807"/>
        <c:crosses val="autoZero"/>
        <c:auto val="1"/>
        <c:lblAlgn val="ctr"/>
        <c:lblOffset val="100"/>
        <c:noMultiLvlLbl val="0"/>
      </c:catAx>
      <c:valAx>
        <c:axId val="9681780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68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 Project File.xlsx]Weekday VS weekend!PivotTable7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Weekday VS weekend</a:t>
            </a:r>
          </a:p>
        </c:rich>
      </c:tx>
      <c:layout>
        <c:manualLayout>
          <c:xMode val="edge"/>
          <c:yMode val="edge"/>
          <c:x val="0.3170068027210885"/>
          <c:y val="1.33155792276964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'Weekday VS weekend'!$B$3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492-4F54-9466-51A8D7119A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492-4F54-9466-51A8D7119A55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pattFill prst="pct75">
                    <a:fgClr>
                      <a:schemeClr val="dk1">
                        <a:lumMod val="75000"/>
                        <a:lumOff val="25000"/>
                      </a:schemeClr>
                    </a:fgClr>
                    <a:bgClr>
                      <a:schemeClr val="dk1">
                        <a:lumMod val="65000"/>
                        <a:lumOff val="35000"/>
                      </a:schemeClr>
                    </a:bgClr>
                  </a:pattFill>
                  <a:ln>
                    <a:noFill/>
                  </a:ln>
                </c15:spPr>
              </c:ext>
            </c:extLst>
          </c:dLbls>
          <c:cat>
            <c:strRef>
              <c:f>'Weekday VS weekend'!$A$4:$A$6</c:f>
              <c:strCache>
                <c:ptCount val="2"/>
                <c:pt idx="0">
                  <c:v>Weekday </c:v>
                </c:pt>
                <c:pt idx="1">
                  <c:v>Weekend</c:v>
                </c:pt>
              </c:strCache>
            </c:strRef>
          </c:cat>
          <c:val>
            <c:numRef>
              <c:f>'Weekday VS weekend'!$B$4:$B$6</c:f>
              <c:numCache>
                <c:formatCode>General</c:formatCode>
                <c:ptCount val="2"/>
                <c:pt idx="0">
                  <c:v>42435</c:v>
                </c:pt>
                <c:pt idx="1">
                  <c:v>15869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92-4F54-9466-51A8D7119A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ECF0F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👥 Casual vs Registered Users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ECF0F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0"/>
          <c:tx>
            <c:strRef>
              <c:f>'Chart Data'!$C$3</c:f>
              <c:strCache>
                <c:ptCount val="1"/>
                <c:pt idx="0">
                  <c:v>Casual Users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'Chart Data'!$A$4:$A$7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'Chart Data'!$C$4:$C$7</c:f>
              <c:numCache>
                <c:formatCode>#,##0</c:formatCode>
                <c:ptCount val="4"/>
                <c:pt idx="0">
                  <c:v>970</c:v>
                </c:pt>
                <c:pt idx="1">
                  <c:v>2885</c:v>
                </c:pt>
                <c:pt idx="2">
                  <c:v>870</c:v>
                </c:pt>
                <c:pt idx="3">
                  <c:v>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1-4321-B323-6D1BCBBA444F}"/>
            </c:ext>
          </c:extLst>
        </c:ser>
        <c:ser>
          <c:idx val="2"/>
          <c:order val="1"/>
          <c:tx>
            <c:strRef>
              <c:f>'Chart Data'!$D$3</c:f>
              <c:strCache>
                <c:ptCount val="1"/>
                <c:pt idx="0">
                  <c:v>Registered Users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'Chart Data'!$A$4:$A$7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'Chart Data'!$D$4:$D$7</c:f>
              <c:numCache>
                <c:formatCode>#,##0</c:formatCode>
                <c:ptCount val="4"/>
                <c:pt idx="0">
                  <c:v>16162</c:v>
                </c:pt>
                <c:pt idx="1">
                  <c:v>20423</c:v>
                </c:pt>
                <c:pt idx="2">
                  <c:v>15317</c:v>
                </c:pt>
                <c:pt idx="3">
                  <c:v>1481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71-4321-B323-6D1BCBBA44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49872648"/>
        <c:axId val="749874696"/>
      </c:barChart>
      <c:catAx>
        <c:axId val="749872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874696"/>
        <c:crosses val="autoZero"/>
        <c:auto val="1"/>
        <c:lblAlgn val="ctr"/>
        <c:lblOffset val="100"/>
        <c:noMultiLvlLbl val="0"/>
      </c:catAx>
      <c:valAx>
        <c:axId val="749874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872648"/>
        <c:crosses val="autoZero"/>
        <c:crossBetween val="between"/>
      </c:valAx>
      <c:spPr>
        <a:solidFill>
          <a:srgbClr val="34495E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ECF0F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C3E50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Rentals by Weekday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'Chart Data'!$B$17</c:f>
              <c:strCache>
                <c:ptCount val="1"/>
                <c:pt idx="0">
                  <c:v>Total Rentals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'Chart Data'!$A$18:$A$24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'Chart Data'!$B$18:$B$24</c:f>
              <c:numCache>
                <c:formatCode>#,##0</c:formatCode>
                <c:ptCount val="7"/>
                <c:pt idx="0">
                  <c:v>8450</c:v>
                </c:pt>
                <c:pt idx="1">
                  <c:v>8383</c:v>
                </c:pt>
                <c:pt idx="2">
                  <c:v>8049</c:v>
                </c:pt>
                <c:pt idx="3">
                  <c:v>8458</c:v>
                </c:pt>
                <c:pt idx="4">
                  <c:v>9095</c:v>
                </c:pt>
                <c:pt idx="5">
                  <c:v>7748</c:v>
                </c:pt>
                <c:pt idx="6">
                  <c:v>8121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83-44FC-ABA2-3A6BAED5E7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6436232"/>
        <c:axId val="616438792"/>
      </c:barChart>
      <c:catAx>
        <c:axId val="616436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438792"/>
        <c:crosses val="autoZero"/>
        <c:auto val="1"/>
        <c:lblAlgn val="ctr"/>
        <c:lblOffset val="100"/>
        <c:noMultiLvlLbl val="0"/>
      </c:catAx>
      <c:valAx>
        <c:axId val="6164387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6436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900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25EB6-F35F-4E0A-B7DD-108EC79A8DBA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2C39B-10D9-4479-AAF0-6A48B1AFB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11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81D6-0B34-E153-8C97-D9BCA2A5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D95FA-8041-BB89-5E44-F3E66C0D9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F6D1C-BA0E-A10D-0056-2BCADF0DD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226F-6743-4239-628C-E356E824B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99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25D1-3F46-3755-CDE1-19F611AA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2CC71-AD30-DA56-E018-023C8B0B8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992A8-2819-401A-A4E0-C60A0F9E4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06CE5-4A42-4655-CE6A-24FEEA3CF7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10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1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28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4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77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31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1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4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69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136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22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24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221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293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5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207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75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15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074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439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5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154BF-2DFD-4EF2-954D-297819FEF2AC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5C030-A0E7-4A4D-850D-6B5017AB73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233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4" y="2373512"/>
            <a:ext cx="647944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Bike Rental Business Analysis</a:t>
            </a:r>
            <a:endParaRPr lang="en-US" sz="3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8104" y="3846016"/>
            <a:ext cx="622379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Sales Performance, Weather Impact, Customer Behavior &amp; Growth Recommendations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95F2D9-5B52-2B27-9C91-7AE746366D1E}"/>
              </a:ext>
            </a:extLst>
          </p:cNvPr>
          <p:cNvSpPr/>
          <p:nvPr/>
        </p:nvSpPr>
        <p:spPr>
          <a:xfrm>
            <a:off x="698104" y="4798142"/>
            <a:ext cx="4748967" cy="74725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3000"/>
              </a:lnSpc>
            </a:pPr>
            <a:r>
              <a:rPr lang="en-IN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Presented By: KRUNALKUMAR MODI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C77A45-BBAB-4138-21C7-F417606ECFEA}"/>
              </a:ext>
            </a:extLst>
          </p:cNvPr>
          <p:cNvSpPr/>
          <p:nvPr/>
        </p:nvSpPr>
        <p:spPr>
          <a:xfrm>
            <a:off x="698103" y="854176"/>
            <a:ext cx="4843959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133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1E7E1-242B-0BBB-0713-D4BE9806794A}"/>
              </a:ext>
            </a:extLst>
          </p:cNvPr>
          <p:cNvSpPr txBox="1"/>
          <p:nvPr/>
        </p:nvSpPr>
        <p:spPr>
          <a:xfrm>
            <a:off x="1081547" y="1858748"/>
            <a:ext cx="7020234" cy="2871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189" marR="0" lvl="0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endParaRPr lang="en-IN" dirty="0">
              <a:solidFill>
                <a:srgbClr val="D6E5EF"/>
              </a:solidFill>
              <a:latin typeface="Arial" panose="020B0604020202020204" pitchFamily="34" charset="0"/>
              <a:ea typeface="Source Sans 3" pitchFamily="34" charset="-122"/>
              <a:cs typeface="Arial" panose="020B0604020202020204" pitchFamily="34" charset="0"/>
            </a:endParaRPr>
          </a:p>
          <a:p>
            <a:pPr marL="457189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Analyse bike rental patterns</a:t>
            </a:r>
          </a:p>
          <a:p>
            <a:pPr marL="457189" marR="0" lvl="0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r>
              <a:rPr lang="en-IN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Understanding customer behaviour</a:t>
            </a:r>
          </a:p>
          <a:p>
            <a:pPr marL="457189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Identify peak rental hours and busy days</a:t>
            </a:r>
          </a:p>
          <a:p>
            <a:pPr marL="457189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Impact of weather and temperature on rentals</a:t>
            </a:r>
          </a:p>
          <a:p>
            <a:pPr marL="457189" marR="0" lvl="0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Improving operational planning </a:t>
            </a:r>
          </a:p>
          <a:p>
            <a:pPr marL="457189" marR="0" lvl="0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Increasing customer engagement </a:t>
            </a:r>
          </a:p>
          <a:p>
            <a:pPr marL="457189" marR="0" lvl="0" indent="-457189" fontAlgn="base">
              <a:lnSpc>
                <a:spcPct val="127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q"/>
              <a:tabLst/>
            </a:pPr>
            <a:r>
              <a:rPr lang="en-US" altLang="en-US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Supporting strategic business decisions </a:t>
            </a:r>
          </a:p>
        </p:txBody>
      </p:sp>
    </p:spTree>
    <p:extLst>
      <p:ext uri="{BB962C8B-B14F-4D97-AF65-F5344CB8AC3E}">
        <p14:creationId xmlns:p14="http://schemas.microsoft.com/office/powerpoint/2010/main" val="202297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854176"/>
            <a:ext cx="4843959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33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Business Summary</a:t>
            </a:r>
            <a:endParaRPr lang="en-US" sz="31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104" y="1641079"/>
            <a:ext cx="1140539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3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snapshot of core performance metrics across the full dataset period.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1369" y="2138860"/>
            <a:ext cx="4816376" cy="55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00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58,304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49761" y="2891236"/>
            <a:ext cx="229959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Total Rentals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42000" y="3245644"/>
            <a:ext cx="561260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3000"/>
              </a:lnSpc>
            </a:pPr>
            <a:r>
              <a:rPr lang="en-US" sz="13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Across all recorded periods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03923" y="2080214"/>
            <a:ext cx="4291809" cy="55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IN" sz="4400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4,921</a:t>
            </a:r>
            <a:endParaRPr lang="en-US" sz="4400" dirty="0">
              <a:solidFill>
                <a:srgbClr val="D6E5E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00030" y="2891236"/>
            <a:ext cx="229959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1533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Casual</a:t>
            </a:r>
            <a:r>
              <a:rPr lang="en-IN" sz="1600" dirty="0"/>
              <a:t> Users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83103" y="3226993"/>
            <a:ext cx="561270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3000"/>
              </a:lnSpc>
            </a:pPr>
            <a:r>
              <a:rPr lang="en-US" sz="13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Consistent day-to-day demand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1369" y="3850880"/>
            <a:ext cx="4816376" cy="55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00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249:00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49761" y="4603254"/>
            <a:ext cx="229959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Peak Hour Rentals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303" y="4939011"/>
            <a:ext cx="5612607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3000"/>
              </a:lnSpc>
            </a:pPr>
            <a:r>
              <a:rPr lang="en-US" sz="13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Evening commute dominates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79257" y="3850880"/>
            <a:ext cx="4816475" cy="55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00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91.56%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37749" y="4603254"/>
            <a:ext cx="229959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Registered Users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81193" y="4939011"/>
            <a:ext cx="561270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3000"/>
              </a:lnSpc>
            </a:pPr>
            <a:r>
              <a:rPr lang="en-US" sz="13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Drive the vast majority of rides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8104" y="5352057"/>
            <a:ext cx="10795793" cy="651768"/>
          </a:xfrm>
          <a:prstGeom prst="roundRect">
            <a:avLst>
              <a:gd name="adj" fmla="val 3902"/>
            </a:avLst>
          </a:prstGeom>
          <a:solidFill>
            <a:srgbClr val="022349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69" y="5587009"/>
            <a:ext cx="211931" cy="16946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48966" y="5538490"/>
            <a:ext cx="1068506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333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Clear weather conditions consistently produce the highest rental volumes — making weather the single biggest external driver of demand.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DE71DCFF-3DBE-32D5-A7D6-22808AAC23E2}"/>
              </a:ext>
            </a:extLst>
          </p:cNvPr>
          <p:cNvSpPr/>
          <p:nvPr/>
        </p:nvSpPr>
        <p:spPr>
          <a:xfrm>
            <a:off x="3597722" y="2084786"/>
            <a:ext cx="4816376" cy="55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400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53,383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CA2AF4D-CCDE-3075-9FBA-89E5C9D0D0A3}"/>
              </a:ext>
            </a:extLst>
          </p:cNvPr>
          <p:cNvSpPr/>
          <p:nvPr/>
        </p:nvSpPr>
        <p:spPr>
          <a:xfrm>
            <a:off x="4731396" y="2884886"/>
            <a:ext cx="229959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1533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Registered</a:t>
            </a:r>
            <a:r>
              <a:rPr lang="en-IN" sz="1600" dirty="0"/>
              <a:t> </a:t>
            </a:r>
            <a:r>
              <a:rPr lang="en-IN" sz="1533" dirty="0">
                <a:solidFill>
                  <a:srgbClr val="D6E5E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en-US" sz="1533" dirty="0">
              <a:solidFill>
                <a:srgbClr val="D6E5E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599281"/>
            <a:ext cx="4512994" cy="484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133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⏰Time-Based</a:t>
            </a:r>
            <a:r>
              <a:rPr lang="en-IN" sz="3200" dirty="0"/>
              <a:t> </a:t>
            </a:r>
            <a:r>
              <a:rPr lang="en-IN" sz="3133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en-US" sz="3133" dirty="0">
              <a:solidFill>
                <a:srgbClr val="F98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275871" y="1855251"/>
            <a:ext cx="303857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IN" dirty="0"/>
              <a:t> </a:t>
            </a:r>
            <a:r>
              <a:rPr lang="en-IN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>
              <a:solidFill>
                <a:srgbClr val="F98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8103" y="5360591"/>
            <a:ext cx="3513535" cy="898128"/>
          </a:xfrm>
          <a:prstGeom prst="roundRect">
            <a:avLst>
              <a:gd name="adj" fmla="val 10181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53" y="5360591"/>
            <a:ext cx="76200" cy="898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848" y="5539185"/>
            <a:ext cx="24870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Morning Rush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33847" y="5850434"/>
            <a:ext cx="3708797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~8 AM spike — commuters heading to work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339234" y="5360591"/>
            <a:ext cx="3513535" cy="898128"/>
          </a:xfrm>
          <a:prstGeom prst="roundRect">
            <a:avLst>
              <a:gd name="adj" fmla="val 10181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183" y="5360591"/>
            <a:ext cx="76200" cy="8981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4977" y="5539185"/>
            <a:ext cx="24870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Evening Peak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574976" y="5850434"/>
            <a:ext cx="3708797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5 PM highest volume of the day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980363" y="5360591"/>
            <a:ext cx="3513535" cy="898128"/>
          </a:xfrm>
          <a:prstGeom prst="roundRect">
            <a:avLst>
              <a:gd name="adj" fmla="val 10181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312" y="5360591"/>
            <a:ext cx="76200" cy="8981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6108" y="5539185"/>
            <a:ext cx="24870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Opportunity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16107" y="5850434"/>
            <a:ext cx="3708797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Peak-hour pricing or commuter subscriptions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989B7F5-4649-4A49-A7B0-9A6CED3444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5395816"/>
              </p:ext>
            </p:extLst>
          </p:nvPr>
        </p:nvGraphicFramePr>
        <p:xfrm>
          <a:off x="672931" y="1458354"/>
          <a:ext cx="5767198" cy="3172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2">
            <a:extLst>
              <a:ext uri="{FF2B5EF4-FFF2-40B4-BE49-F238E27FC236}">
                <a16:creationId xmlns:a16="http://schemas.microsoft.com/office/drawing/2014/main" id="{F860FC4C-3F16-B5F0-858F-4F1045705BE1}"/>
              </a:ext>
            </a:extLst>
          </p:cNvPr>
          <p:cNvSpPr/>
          <p:nvPr/>
        </p:nvSpPr>
        <p:spPr>
          <a:xfrm>
            <a:off x="7275871" y="2454702"/>
            <a:ext cx="4139380" cy="1107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3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Peak rentals occur during office commuting hours</a:t>
            </a:r>
          </a:p>
          <a:p>
            <a:r>
              <a:rPr lang="en-IN" sz="13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Morning and evening periods show highest demand</a:t>
            </a:r>
          </a:p>
          <a:p>
            <a:r>
              <a:rPr lang="en-IN" sz="13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Night rentals are significantly lower</a:t>
            </a:r>
          </a:p>
          <a:p>
            <a:r>
              <a:rPr lang="en-IN" sz="13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Working professionals are major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718" y="547986"/>
            <a:ext cx="5965229" cy="53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30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🌤️Weather Impact on Rentals</a:t>
            </a:r>
            <a:endParaRPr lang="en-US" sz="31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2718" y="1489075"/>
            <a:ext cx="3334444" cy="26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  <a:p>
            <a:pPr>
              <a:lnSpc>
                <a:spcPct val="104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2717" y="1918793"/>
            <a:ext cx="3978611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Clear skies drive the highest average rentals, while heavy rain and snow can cut demand nearly in half. Operators should build weather-responsive strategies into their playbook.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2718" y="3168750"/>
            <a:ext cx="3537644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457189" indent="-457189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Clear weather: highest average rental volume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Mist/cloudy: moderate reduction in ridership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Rain or snow: significant drop in demand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2718" y="4845646"/>
            <a:ext cx="3537644" cy="1280021"/>
          </a:xfrm>
          <a:prstGeom prst="roundRect">
            <a:avLst>
              <a:gd name="adj" fmla="val 2119"/>
            </a:avLst>
          </a:prstGeom>
          <a:solidFill>
            <a:srgbClr val="49042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96" y="5103812"/>
            <a:ext cx="225921" cy="180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0193" y="5054601"/>
            <a:ext cx="2769393" cy="833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💡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Offer loyalty rewards or flash discounts triggered by bad weather forecasts to soften demand dips.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D2000E6-89D5-468C-8592-14014F087C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4450823"/>
              </p:ext>
            </p:extLst>
          </p:nvPr>
        </p:nvGraphicFramePr>
        <p:xfrm>
          <a:off x="5643716" y="1754983"/>
          <a:ext cx="6219120" cy="3529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375" y="586185"/>
            <a:ext cx="7035403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30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🌡️Temperature Impact on Ridership</a:t>
            </a:r>
            <a:endParaRPr lang="en-US" sz="31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003977" y="1476773"/>
            <a:ext cx="2981028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The Comfort Zone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03977" y="2089952"/>
            <a:ext cx="3952049" cy="19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Moderate and cool temperature generates maximum rentals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Extremely hot and icy conditions reduce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Customers prefer comfortable temperature conditions</a:t>
            </a:r>
          </a:p>
          <a:p>
            <a:pPr>
              <a:lnSpc>
                <a:spcPct val="125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03977" y="4641056"/>
            <a:ext cx="3517900" cy="1460203"/>
          </a:xfrm>
          <a:prstGeom prst="roundRect">
            <a:avLst>
              <a:gd name="adj" fmla="val 1787"/>
            </a:avLst>
          </a:prstGeom>
          <a:solidFill>
            <a:srgbClr val="183A1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809" y="4890394"/>
            <a:ext cx="217388" cy="1738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69029" y="4836120"/>
            <a:ext cx="2779017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333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Seasonal promotions aligned to temperature forecasts can meaningfully improve fleet utilization and revenue consistency.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A3C75D4-4348-4E67-8C4F-D83E8CBEC6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662028"/>
              </p:ext>
            </p:extLst>
          </p:nvPr>
        </p:nvGraphicFramePr>
        <p:xfrm>
          <a:off x="935512" y="1525714"/>
          <a:ext cx="5917571" cy="4186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618331"/>
            <a:ext cx="5832475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/>
              <a:t>📊</a:t>
            </a:r>
            <a:r>
              <a:rPr lang="en-US" sz="2933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Weekday vs. Weekend Rentals</a:t>
            </a:r>
            <a:endParaRPr lang="en-US" sz="29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103" y="2228047"/>
            <a:ext cx="2955329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Two Distinct Rider Profiles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8102" y="2803238"/>
            <a:ext cx="3795240" cy="1296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Weekday demand averages </a:t>
            </a:r>
            <a:r>
              <a:rPr lang="en-US" sz="1400" b="1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~63 rentals</a:t>
            </a: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per slot, driven by office commuters. Weekends drop to </a:t>
            </a:r>
            <a:r>
              <a:rPr lang="en-US" sz="1400" b="1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~48</a:t>
            </a: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reflecting leisure and casual use — a different audience requiring a different pitch.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8103" y="5379641"/>
            <a:ext cx="5334099" cy="860028"/>
          </a:xfrm>
          <a:prstGeom prst="roundRect">
            <a:avLst>
              <a:gd name="adj" fmla="val 2783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857648" y="5539185"/>
            <a:ext cx="24870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Weekday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7647" y="5850434"/>
            <a:ext cx="56246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Target commuters with monthly passes &amp; commuter bundles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59797" y="5379641"/>
            <a:ext cx="5334099" cy="860028"/>
          </a:xfrm>
          <a:prstGeom prst="roundRect">
            <a:avLst>
              <a:gd name="adj" fmla="val 2783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6319342" y="5539185"/>
            <a:ext cx="2487017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7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Weekend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19342" y="5850434"/>
            <a:ext cx="5624612" cy="22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Target families &amp; tourists with group ride packages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41D81D1-D8F7-94EB-1804-7535D3AD2F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479391"/>
              </p:ext>
            </p:extLst>
          </p:nvPr>
        </p:nvGraphicFramePr>
        <p:xfrm>
          <a:off x="5857419" y="1164332"/>
          <a:ext cx="5897880" cy="3874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4" y="641945"/>
            <a:ext cx="5654873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30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👥 Customer Segmentation</a:t>
            </a:r>
            <a:endParaRPr lang="en-US" sz="31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417549" y="2017060"/>
            <a:ext cx="3923960" cy="33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IN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>
              <a:solidFill>
                <a:srgbClr val="F98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353640" y="2607073"/>
            <a:ext cx="4051779" cy="971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Registered users contribute most rentals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Casual users are significantly lower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High repeat customer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Strong customer retention observed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223140A-56D2-2A3A-04BC-863DF010BB93}"/>
              </a:ext>
              <a:ext uri="{147F2762-F138-4A5C-976F-8EAC2B608ADB}">
                <a16:predDERef xmlns:a16="http://schemas.microsoft.com/office/drawing/2014/main" pred="{5D812B8A-10CC-82ED-F5A1-969BCE1B2B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517082"/>
              </p:ext>
            </p:extLst>
          </p:nvPr>
        </p:nvGraphicFramePr>
        <p:xfrm>
          <a:off x="691850" y="1771253"/>
          <a:ext cx="5404149" cy="3931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4F7A-0B0C-F922-9145-E7042011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C15634-89EA-1431-D7AA-804AF19F5A7A}"/>
              </a:ext>
            </a:extLst>
          </p:cNvPr>
          <p:cNvSpPr/>
          <p:nvPr/>
        </p:nvSpPr>
        <p:spPr>
          <a:xfrm>
            <a:off x="676375" y="586185"/>
            <a:ext cx="7035403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130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📊Day-Wise Analysis</a:t>
            </a:r>
            <a:endParaRPr lang="en-US" sz="3130" dirty="0">
              <a:solidFill>
                <a:srgbClr val="F98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49E31E-55EF-A520-B0F6-4769360CE3A3}"/>
              </a:ext>
            </a:extLst>
          </p:cNvPr>
          <p:cNvSpPr/>
          <p:nvPr/>
        </p:nvSpPr>
        <p:spPr>
          <a:xfrm>
            <a:off x="8003977" y="1816084"/>
            <a:ext cx="2981028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The Comfort Zone Effect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C4FA38-7853-1376-AA21-BB96F3CBBD0B}"/>
              </a:ext>
            </a:extLst>
          </p:cNvPr>
          <p:cNvSpPr/>
          <p:nvPr/>
        </p:nvSpPr>
        <p:spPr>
          <a:xfrm>
            <a:off x="7982512" y="2375088"/>
            <a:ext cx="3952049" cy="19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Working days show higher rentals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Weekends show recreational usage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Holidays have varying demand patterns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Business activity influences rental volume</a:t>
            </a:r>
          </a:p>
          <a:p>
            <a:pPr>
              <a:lnSpc>
                <a:spcPct val="125000"/>
              </a:lnSpc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30D9E9F-CB51-5139-6E50-92833DAEA299}"/>
              </a:ext>
            </a:extLst>
          </p:cNvPr>
          <p:cNvSpPr/>
          <p:nvPr/>
        </p:nvSpPr>
        <p:spPr>
          <a:xfrm>
            <a:off x="8003977" y="4641056"/>
            <a:ext cx="3517900" cy="1460203"/>
          </a:xfrm>
          <a:prstGeom prst="roundRect">
            <a:avLst>
              <a:gd name="adj" fmla="val 1787"/>
            </a:avLst>
          </a:prstGeom>
          <a:solidFill>
            <a:srgbClr val="183A13"/>
          </a:solidFill>
          <a:ln/>
        </p:spPr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C2D3E1F-8754-2FAE-70F6-5A862366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809" y="4890394"/>
            <a:ext cx="217388" cy="17383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4CBB5545-27DB-CC93-AB34-04A2742E7826}"/>
              </a:ext>
            </a:extLst>
          </p:cNvPr>
          <p:cNvSpPr/>
          <p:nvPr/>
        </p:nvSpPr>
        <p:spPr>
          <a:xfrm>
            <a:off x="8569029" y="4836120"/>
            <a:ext cx="2779017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1333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Seasonal promotions aligned to temperature forecasts can meaningfully improve fleet utilization and revenue consistency.</a:t>
            </a:r>
            <a:endParaRPr lang="en-US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B2AF8EC-BC4C-3BFE-4E61-5136249B38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165432"/>
              </p:ext>
            </p:extLst>
          </p:nvPr>
        </p:nvGraphicFramePr>
        <p:xfrm>
          <a:off x="380999" y="1553497"/>
          <a:ext cx="5960807" cy="4404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9436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6CD7-73C4-67A3-0919-4D8D449B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9F43D6F-F204-7F65-92E6-A47A23ACEEDB}"/>
              </a:ext>
            </a:extLst>
          </p:cNvPr>
          <p:cNvSpPr/>
          <p:nvPr/>
        </p:nvSpPr>
        <p:spPr>
          <a:xfrm>
            <a:off x="698103" y="865188"/>
            <a:ext cx="846722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667" dirty="0">
                <a:solidFill>
                  <a:srgbClr val="F98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 Business Insights</a:t>
            </a:r>
            <a:endParaRPr lang="en-US" sz="3667" dirty="0">
              <a:solidFill>
                <a:srgbClr val="F98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76F86B-0196-7005-F867-2DC1365E3D69}"/>
              </a:ext>
            </a:extLst>
          </p:cNvPr>
          <p:cNvSpPr/>
          <p:nvPr/>
        </p:nvSpPr>
        <p:spPr>
          <a:xfrm>
            <a:off x="698103" y="1850828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01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BB7A6C5-ADEB-722A-2B25-A4923B42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3" y="2164457"/>
            <a:ext cx="3465612" cy="254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059A3F0-A62D-46EF-5127-E4FCA1C5E0D3}"/>
              </a:ext>
            </a:extLst>
          </p:cNvPr>
          <p:cNvSpPr/>
          <p:nvPr/>
        </p:nvSpPr>
        <p:spPr>
          <a:xfrm>
            <a:off x="698103" y="2314972"/>
            <a:ext cx="346561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Registered customers drive business growth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7B47C64-E81F-5FD0-2E32-D32F0AFA7906}"/>
              </a:ext>
            </a:extLst>
          </p:cNvPr>
          <p:cNvSpPr/>
          <p:nvPr/>
        </p:nvSpPr>
        <p:spPr>
          <a:xfrm>
            <a:off x="7477231" y="1848624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02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E44A7BD-156D-616A-FD95-324626FDB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45" y="2184400"/>
            <a:ext cx="3465612" cy="2540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758074A2-907C-2A5F-8C6E-CEDFE57F0F8B}"/>
              </a:ext>
            </a:extLst>
          </p:cNvPr>
          <p:cNvSpPr/>
          <p:nvPr/>
        </p:nvSpPr>
        <p:spPr>
          <a:xfrm>
            <a:off x="7523906" y="2311745"/>
            <a:ext cx="3306017" cy="9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Weather strongly impacts rental </a:t>
            </a:r>
          </a:p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demand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5D92D15-B758-7BFC-ECAA-74F557D5507B}"/>
              </a:ext>
            </a:extLst>
          </p:cNvPr>
          <p:cNvSpPr/>
          <p:nvPr/>
        </p:nvSpPr>
        <p:spPr>
          <a:xfrm>
            <a:off x="4412258" y="3449044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03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6DDE6680-FD90-451E-3536-F87712C9E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186" y="2184400"/>
            <a:ext cx="3465711" cy="254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758CEAE1-517A-3ACC-4C75-440700B27B6F}"/>
              </a:ext>
            </a:extLst>
          </p:cNvPr>
          <p:cNvSpPr/>
          <p:nvPr/>
        </p:nvSpPr>
        <p:spPr>
          <a:xfrm>
            <a:off x="4363144" y="3800326"/>
            <a:ext cx="384839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Peak demand occurs during </a:t>
            </a:r>
          </a:p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commuting hours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D3D148B-752F-4EE8-7384-00238183DEC3}"/>
              </a:ext>
            </a:extLst>
          </p:cNvPr>
          <p:cNvSpPr/>
          <p:nvPr/>
        </p:nvSpPr>
        <p:spPr>
          <a:xfrm>
            <a:off x="698103" y="4852720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04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3EB26F3E-CCA3-F9E1-3726-04EB22ED1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03" y="4621411"/>
            <a:ext cx="5298183" cy="2540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BA49E09-40FE-74EC-774C-F0E35B0DC81E}"/>
              </a:ext>
            </a:extLst>
          </p:cNvPr>
          <p:cNvSpPr/>
          <p:nvPr/>
        </p:nvSpPr>
        <p:spPr>
          <a:xfrm>
            <a:off x="698103" y="5313164"/>
            <a:ext cx="3714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Moderate climate increases customer activity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D1EAAAA7-6081-BA25-01C1-5F9E3AA4689A}"/>
              </a:ext>
            </a:extLst>
          </p:cNvPr>
          <p:cNvSpPr/>
          <p:nvPr/>
        </p:nvSpPr>
        <p:spPr>
          <a:xfrm>
            <a:off x="7523906" y="4852719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05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62DB3D41-8DEF-93BA-D84A-7DAC8E466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715" y="4621411"/>
            <a:ext cx="5298183" cy="25400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D9D38379-D0C1-832B-E24C-DDEC25815901}"/>
              </a:ext>
            </a:extLst>
          </p:cNvPr>
          <p:cNvSpPr/>
          <p:nvPr/>
        </p:nvSpPr>
        <p:spPr>
          <a:xfrm>
            <a:off x="7477231" y="5313163"/>
            <a:ext cx="37533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Working days generate maximum revenue opportunity</a:t>
            </a:r>
          </a:p>
        </p:txBody>
      </p:sp>
    </p:spTree>
    <p:extLst>
      <p:ext uri="{BB962C8B-B14F-4D97-AF65-F5344CB8AC3E}">
        <p14:creationId xmlns:p14="http://schemas.microsoft.com/office/powerpoint/2010/main" val="94709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865188"/>
            <a:ext cx="846722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Business Growth Recommendations</a:t>
            </a:r>
            <a:endParaRPr lang="en-US" sz="3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8103" y="1850828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01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03" y="2164457"/>
            <a:ext cx="3465612" cy="25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103" y="2314972"/>
            <a:ext cx="346561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Boost Peak-Hour Fleet Availability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8103" y="2747864"/>
            <a:ext cx="346561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Ensure maximum bikes are docked and serviced before 8 AM and 4 PM commute windows.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63145" y="1850828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02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145" y="2184400"/>
            <a:ext cx="3465612" cy="25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45" y="2314972"/>
            <a:ext cx="40360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Weather-Triggered Promotions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363145" y="2727920"/>
            <a:ext cx="346561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Deploy automated discounts or loyalty rewards when rain or mist is forecast.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028186" y="1850828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03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186" y="2184400"/>
            <a:ext cx="3465711" cy="25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28186" y="2314972"/>
            <a:ext cx="384839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Weekend Tourism Campaigns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028186" y="2727920"/>
            <a:ext cx="346571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Launch family ride bundles and tourist-friendly day passes to lift weekend volume.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8103" y="4327725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04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03" y="4621411"/>
            <a:ext cx="5298183" cy="25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8103" y="4791869"/>
            <a:ext cx="3714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Loyalty &amp; Subscription Plans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98103" y="5204818"/>
            <a:ext cx="529818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Retain registered users and convert casual riders with tiered membership pricing.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195715" y="4327725"/>
            <a:ext cx="100855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Lora Light" pitchFamily="34" charset="-122"/>
                <a:cs typeface="Arial" panose="020B0604020202020204" pitchFamily="34" charset="0"/>
              </a:rPr>
              <a:t>05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715" y="4621411"/>
            <a:ext cx="5298183" cy="25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95715" y="4791869"/>
            <a:ext cx="37533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AI-Powered Dynamic Pricing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6195715" y="5204818"/>
            <a:ext cx="529818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predictive analytics and real-time weather + time data to optimize pricing and maintenance scheduling.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103" y="1249164"/>
            <a:ext cx="5303341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30" dirty="0">
                <a:solidFill>
                  <a:srgbClr val="F98AC7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Conclusion</a:t>
            </a:r>
            <a:endParaRPr lang="en-US" sz="31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97249" y="2459138"/>
            <a:ext cx="104966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Rentals are highly sensitive to weather, temperature, time of day, and customer type — making data-driven operations a competitive advantage, not a nice-to-have.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98103" y="2234803"/>
            <a:ext cx="25400" cy="1087040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5" name="Shape 3"/>
          <p:cNvSpPr/>
          <p:nvPr/>
        </p:nvSpPr>
        <p:spPr>
          <a:xfrm>
            <a:off x="698104" y="3546177"/>
            <a:ext cx="10795793" cy="2062659"/>
          </a:xfrm>
          <a:prstGeom prst="roundRect">
            <a:avLst>
              <a:gd name="adj" fmla="val 1451"/>
            </a:avLst>
          </a:prstGeom>
          <a:solidFill>
            <a:srgbClr val="444752"/>
          </a:solidFill>
          <a:ln/>
        </p:spPr>
      </p:sp>
      <p:sp>
        <p:nvSpPr>
          <p:cNvPr id="6" name="Shape 4"/>
          <p:cNvSpPr/>
          <p:nvPr/>
        </p:nvSpPr>
        <p:spPr>
          <a:xfrm>
            <a:off x="698103" y="3546177"/>
            <a:ext cx="3598565" cy="2062659"/>
          </a:xfrm>
          <a:prstGeom prst="roundRect">
            <a:avLst>
              <a:gd name="adj" fmla="val 1451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897533" y="3745607"/>
            <a:ext cx="37357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Understand Demand Drivers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7534" y="4158556"/>
            <a:ext cx="319970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Weather, temperature, and commute patterns are the strongest predictors of daily rental volume.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96668" y="3546177"/>
            <a:ext cx="3598565" cy="2062659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6668" y="3546177"/>
            <a:ext cx="25400" cy="2062659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11" name="Text 9"/>
          <p:cNvSpPr/>
          <p:nvPr/>
        </p:nvSpPr>
        <p:spPr>
          <a:xfrm>
            <a:off x="4496098" y="3745607"/>
            <a:ext cx="319970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Activate Strategic Promotions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70698" y="4178288"/>
            <a:ext cx="319970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Weather-responsive pricing and seasonal campaigns can meaningfully offset demand volatility.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95234" y="3546177"/>
            <a:ext cx="3598565" cy="2062659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4" name="Shape 12"/>
          <p:cNvSpPr/>
          <p:nvPr/>
        </p:nvSpPr>
        <p:spPr>
          <a:xfrm>
            <a:off x="7895233" y="3546177"/>
            <a:ext cx="25400" cy="2062659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15" name="Text 13"/>
          <p:cNvSpPr/>
          <p:nvPr/>
        </p:nvSpPr>
        <p:spPr>
          <a:xfrm>
            <a:off x="8094664" y="3745607"/>
            <a:ext cx="37148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D6E5EF"/>
                </a:solidFill>
                <a:latin typeface="Arial" panose="020B0604020202020204" pitchFamily="34" charset="0"/>
                <a:ea typeface="Lora" pitchFamily="34" charset="-122"/>
                <a:cs typeface="Arial" panose="020B0604020202020204" pitchFamily="34" charset="0"/>
              </a:rPr>
              <a:t>Convert &amp; Retain Customers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07363" y="4208214"/>
            <a:ext cx="319970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33" dirty="0">
                <a:solidFill>
                  <a:srgbClr val="D6E5E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Growing the registered base and rewarding loyalty are the clearest paths to sustainable revenue growth.</a:t>
            </a:r>
            <a:endParaRPr lang="en-US" sz="15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2104" y="2601444"/>
            <a:ext cx="4979591" cy="584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3667" b="1" dirty="0">
                <a:solidFill>
                  <a:srgbClr val="FFFFFF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Thank You</a:t>
            </a:r>
            <a:endParaRPr lang="en-US" sz="3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F9298B7-D98C-5C03-84B9-966357E8A207}"/>
              </a:ext>
            </a:extLst>
          </p:cNvPr>
          <p:cNvSpPr/>
          <p:nvPr/>
        </p:nvSpPr>
        <p:spPr>
          <a:xfrm>
            <a:off x="1585679" y="3501096"/>
            <a:ext cx="4979591" cy="584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IN" sz="3667" b="1" dirty="0">
                <a:solidFill>
                  <a:srgbClr val="FFFFFF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Questions</a:t>
            </a:r>
            <a:r>
              <a:rPr lang="en-IN" sz="4000" dirty="0"/>
              <a:t> &amp; Answers</a:t>
            </a:r>
            <a:endParaRPr lang="en-US" sz="36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</TotalTime>
  <Words>673</Words>
  <Application>Microsoft Office PowerPoint</Application>
  <PresentationFormat>Widescreen</PresentationFormat>
  <Paragraphs>131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Krunal Modi</dc:creator>
  <cp:lastModifiedBy>Krunal Modi</cp:lastModifiedBy>
  <cp:revision>11</cp:revision>
  <dcterms:created xsi:type="dcterms:W3CDTF">2026-05-19T10:45:17Z</dcterms:created>
  <dcterms:modified xsi:type="dcterms:W3CDTF">2026-05-20T11:12:22Z</dcterms:modified>
</cp:coreProperties>
</file>